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Platypi Medium" panose="020B0604020202020204" charset="0"/>
      <p:regular r:id="rId13"/>
    </p:embeddedFont>
    <p:embeddedFont>
      <p:font typeface="Source Serif 4" panose="020B0604020202020204" charset="0"/>
      <p:regular r:id="rId14"/>
    </p:embeddedFont>
    <p:embeddedFont>
      <p:font typeface="Source Serif 4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3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13667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Smart Utility Meter Reading System Using IoT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601442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Automated Water, Gas, and Electricity Consumption Monitoring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utility consumption tracking through intelligent IoT-enabled smart meters and centralized cloud-based monitoring.</a:t>
            </a:r>
            <a:endParaRPr lang="en-US" sz="14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089087-626B-2867-DE14-5037A165A102}"/>
              </a:ext>
            </a:extLst>
          </p:cNvPr>
          <p:cNvSpPr txBox="1"/>
          <p:nvPr/>
        </p:nvSpPr>
        <p:spPr>
          <a:xfrm>
            <a:off x="0" y="6211669"/>
            <a:ext cx="20886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TAMMINENI CHAKRI</a:t>
            </a:r>
            <a:br>
              <a:rPr lang="en-IN"/>
            </a:br>
            <a:r>
              <a:rPr lang="en-IN"/>
              <a:t>323129520126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2089"/>
            <a:ext cx="6296860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Problem Statement</a:t>
            </a:r>
            <a:endParaRPr lang="en-US" sz="2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077516"/>
            <a:ext cx="6296860" cy="9295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9573" y="1229420"/>
            <a:ext cx="591686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Manual &amp; Labor-Intensive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889573" y="1493044"/>
            <a:ext cx="5916861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Time-consuming manual meter reading process with heavy labor-intensive operational requirements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100461"/>
            <a:ext cx="6296860" cy="74850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9573" y="2252365"/>
            <a:ext cx="591686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Human Error &amp; Inaccuracy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889573" y="2515989"/>
            <a:ext cx="5916861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Human errors in recording readings lead to inaccurate billing due to manual data entry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942332"/>
            <a:ext cx="6296860" cy="9295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89573" y="3094236"/>
            <a:ext cx="591686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Delayed &amp; Uninformed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889573" y="3357860"/>
            <a:ext cx="5916861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Delayed consumption reporting, lack of real-time information, and no automated monitoring capability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661475" y="4043363"/>
            <a:ext cx="6296860" cy="438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3x</a:t>
            </a:r>
            <a:endParaRPr lang="en-US" sz="3450" dirty="0"/>
          </a:p>
        </p:txBody>
      </p:sp>
      <p:sp>
        <p:nvSpPr>
          <p:cNvPr id="14" name="Text 8"/>
          <p:cNvSpPr/>
          <p:nvPr/>
        </p:nvSpPr>
        <p:spPr>
          <a:xfrm>
            <a:off x="661475" y="4618335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More Time Spent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61475" y="4881959"/>
            <a:ext cx="629686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Compared to automated systems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661475" y="5316240"/>
            <a:ext cx="6296860" cy="438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~5%</a:t>
            </a:r>
            <a:endParaRPr lang="en-US" sz="3450" dirty="0"/>
          </a:p>
        </p:txBody>
      </p:sp>
      <p:sp>
        <p:nvSpPr>
          <p:cNvPr id="17" name="Text 11"/>
          <p:cNvSpPr/>
          <p:nvPr/>
        </p:nvSpPr>
        <p:spPr>
          <a:xfrm>
            <a:off x="661475" y="5891213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Error Rate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61475" y="6154837"/>
            <a:ext cx="629686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Typical manual reading inaccuracy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4856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17241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695700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Automated Utility Monitoring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399657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IoT technology automatically collects water, gas, and electricity consumption data without manual intervention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217241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69570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Cloud-Based Infrastructure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104382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Scalable and reliable cloud connectivity enables automatic transmission of meter readings to a central server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217241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69570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Secure Monitoring Platform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104382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Centralized, user-friendly interface provides real-time access to utility consumption information for all stakeholders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8920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Objectives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15902"/>
            <a:ext cx="6928470" cy="392618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85421" y="1420416"/>
            <a:ext cx="358766" cy="35877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8045199" y="1450330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478725" y="1475184"/>
            <a:ext cx="3057746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Automate meter reading processes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478725" y="2108002"/>
            <a:ext cx="3057746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Eliminate manual effort and reduce human errors across water, gas, and electricity meters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985421" y="3082528"/>
            <a:ext cx="358766" cy="35877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9" name="Text 6"/>
          <p:cNvSpPr/>
          <p:nvPr/>
        </p:nvSpPr>
        <p:spPr>
          <a:xfrm>
            <a:off x="8045199" y="3112443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478725" y="3137297"/>
            <a:ext cx="3057746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Improve billing accuracy &amp; transparency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478725" y="3770114"/>
            <a:ext cx="3057746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Provide real-time consumption data and historical trend tracking for precise billing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85421" y="4744641"/>
            <a:ext cx="358766" cy="35877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3" name="Text 10"/>
          <p:cNvSpPr/>
          <p:nvPr/>
        </p:nvSpPr>
        <p:spPr>
          <a:xfrm>
            <a:off x="8045199" y="4774555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478725" y="4799409"/>
            <a:ext cx="3057746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Detect anomalies &amp; conserve resources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478725" y="5432227"/>
            <a:ext cx="3057746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Alert stakeholders to abnormal usage and improve overall resource management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291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System Components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89063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83383"/>
            <a:ext cx="53438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Smart Water Meter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475" y="2328664"/>
            <a:ext cx="53438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Measures and records water consumption in real-time with high precision sensors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6234" y="1389063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86234" y="1983383"/>
            <a:ext cx="5343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Smart Gas Meter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186234" y="2328664"/>
            <a:ext cx="53439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Measures and records gas consumption in real-time, ensuring safe and accurate readings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14179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708499"/>
            <a:ext cx="53438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Smart Electricity Meter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61475" y="4053780"/>
            <a:ext cx="53438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Measures and records electricity consumption in real-time across residential and commercial loads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6234" y="3114179"/>
            <a:ext cx="413434" cy="4134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86234" y="3708499"/>
            <a:ext cx="5343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IoT Communication Modules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186234" y="4053780"/>
            <a:ext cx="53439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Transmit meter data wirelessly to the central server via secure communication protocols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839295"/>
            <a:ext cx="413434" cy="41344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433616"/>
            <a:ext cx="53438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 Connectivity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661475" y="5778897"/>
            <a:ext cx="53438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Enables centralized data storage, processing, and access with scalability and reliability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6234" y="4839295"/>
            <a:ext cx="413434" cy="41344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86234" y="5433616"/>
            <a:ext cx="5343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Central Monitoring Platform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6186234" y="5778897"/>
            <a:ext cx="53439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Collects, processes, and displays utility information for consumers and providers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78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Working Principle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66528"/>
            <a:ext cx="10868745" cy="28760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9780" y="3038978"/>
            <a:ext cx="1642940" cy="5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Meter Sensing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499780" y="3711011"/>
            <a:ext cx="1642940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Smart meters record consumption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382469" y="2886006"/>
            <a:ext cx="1642940" cy="29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Capture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3382469" y="3263860"/>
            <a:ext cx="1642940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Water, gas, electricity readings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65158" y="3038978"/>
            <a:ext cx="1642940" cy="5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IoT Transmission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265158" y="3711011"/>
            <a:ext cx="1642940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Wireless modules send readings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147847" y="3121348"/>
            <a:ext cx="1642941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 Ingress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147847" y="3499203"/>
            <a:ext cx="1642941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forwarded to central server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040996" y="3038978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Processing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9040996" y="3416833"/>
            <a:ext cx="1642940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Store and analyze incoming data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515520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system operates as a continuous, fully automated pipeline — from physical meter sensing through wireless IoT transmission to cloud processing and real-time dashboard delivery — requiring zero manual intervention at any stage.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69131"/>
            <a:ext cx="6296860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Centralized Monitoring Dashboard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233360" y="1956395"/>
            <a:ext cx="2961110" cy="906959"/>
          </a:xfrm>
          <a:prstGeom prst="roundRect">
            <a:avLst>
              <a:gd name="adj" fmla="val 2540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5386848" y="2109887"/>
            <a:ext cx="26541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💧</a:t>
            </a: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Water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386848" y="2487216"/>
            <a:ext cx="265413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consumption display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233360" y="2988072"/>
            <a:ext cx="2961110" cy="906959"/>
          </a:xfrm>
          <a:prstGeom prst="roundRect">
            <a:avLst>
              <a:gd name="adj" fmla="val 2540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5386848" y="3141563"/>
            <a:ext cx="26541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🔥</a:t>
            </a: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Gas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86848" y="3518892"/>
            <a:ext cx="265413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consumption display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233360" y="4019748"/>
            <a:ext cx="2961110" cy="906959"/>
          </a:xfrm>
          <a:prstGeom prst="roundRect">
            <a:avLst>
              <a:gd name="adj" fmla="val 2540"/>
            </a:avLst>
          </a:prstGeom>
          <a:solidFill>
            <a:srgbClr val="F9F7F7"/>
          </a:solidFill>
          <a:ln/>
        </p:spPr>
      </p:sp>
      <p:sp>
        <p:nvSpPr>
          <p:cNvPr id="11" name="Text 8"/>
          <p:cNvSpPr/>
          <p:nvPr/>
        </p:nvSpPr>
        <p:spPr>
          <a:xfrm>
            <a:off x="5386848" y="4173240"/>
            <a:ext cx="26541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Electricity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386848" y="4550569"/>
            <a:ext cx="265413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consumption display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575460" y="1956395"/>
            <a:ext cx="2961110" cy="1129605"/>
          </a:xfrm>
          <a:prstGeom prst="roundRect">
            <a:avLst>
              <a:gd name="adj" fmla="val 2039"/>
            </a:avLst>
          </a:prstGeom>
          <a:solidFill>
            <a:srgbClr val="F9F7F7"/>
          </a:solidFill>
          <a:ln/>
        </p:spPr>
      </p:sp>
      <p:sp>
        <p:nvSpPr>
          <p:cNvPr id="14" name="Text 11"/>
          <p:cNvSpPr/>
          <p:nvPr/>
        </p:nvSpPr>
        <p:spPr>
          <a:xfrm>
            <a:off x="8728948" y="2109887"/>
            <a:ext cx="26541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Analytics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728948" y="2487216"/>
            <a:ext cx="2654134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Historical trends and consumption patterns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575460" y="3210719"/>
            <a:ext cx="2961110" cy="906959"/>
          </a:xfrm>
          <a:prstGeom prst="roundRect">
            <a:avLst>
              <a:gd name="adj" fmla="val 2540"/>
            </a:avLst>
          </a:prstGeom>
          <a:solidFill>
            <a:srgbClr val="F9F7F7"/>
          </a:solidFill>
          <a:ln/>
        </p:spPr>
      </p:sp>
      <p:sp>
        <p:nvSpPr>
          <p:cNvPr id="17" name="Text 14"/>
          <p:cNvSpPr/>
          <p:nvPr/>
        </p:nvSpPr>
        <p:spPr>
          <a:xfrm>
            <a:off x="8728948" y="3364210"/>
            <a:ext cx="26541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🔔</a:t>
            </a: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Alerts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728948" y="3741539"/>
            <a:ext cx="265413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Abnormal usage notifications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575460" y="4242395"/>
            <a:ext cx="2961110" cy="906959"/>
          </a:xfrm>
          <a:prstGeom prst="roundRect">
            <a:avLst>
              <a:gd name="adj" fmla="val 2540"/>
            </a:avLst>
          </a:prstGeom>
          <a:solidFill>
            <a:srgbClr val="F9F7F7"/>
          </a:solidFill>
          <a:ln/>
        </p:spPr>
      </p:sp>
      <p:sp>
        <p:nvSpPr>
          <p:cNvPr id="20" name="Text 17"/>
          <p:cNvSpPr/>
          <p:nvPr/>
        </p:nvSpPr>
        <p:spPr>
          <a:xfrm>
            <a:off x="8728948" y="4395887"/>
            <a:ext cx="26541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🩺</a:t>
            </a: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Health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728948" y="4773216"/>
            <a:ext cx="265413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Meter status and system indicators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233360" y="5429945"/>
            <a:ext cx="6296860" cy="758825"/>
          </a:xfrm>
          <a:prstGeom prst="roundRect">
            <a:avLst>
              <a:gd name="adj" fmla="val 3036"/>
            </a:avLst>
          </a:prstGeom>
          <a:solidFill>
            <a:srgbClr val="F3E3D8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6848" y="5611019"/>
            <a:ext cx="191884" cy="153491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732220" y="5592961"/>
            <a:ext cx="5644513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Enables consumers and utility providers to monitor consumption efficiently, identify patterns, and make informed decisions about resource usage.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Billing and Abnormal Usage Monitoring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33152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Accurate Billing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1128018"/>
            <a:ext cx="5319083" cy="503039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Automatic collection of meter readings eliminates manual processes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More accurate consumption data for precise billing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Reduced dependence on manual meter reading and human intervention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Estimated billing information based on real-time consumption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149424" y="885924"/>
            <a:ext cx="5455208" cy="761603"/>
          </a:xfrm>
          <a:prstGeom prst="roundRect">
            <a:avLst>
              <a:gd name="adj" fmla="val 1861"/>
            </a:avLst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6243878" y="933152"/>
            <a:ext cx="526630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Anomaly Detection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43878" y="1128018"/>
            <a:ext cx="5266300" cy="373162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Identification of abnormal usage patterns and anomalies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Automated alerts for unusual consumption spikes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Faster access to consumption information for all stakeholders</a:t>
            </a:r>
            <a:endParaRPr lang="en-US" sz="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00609"/>
            <a:ext cx="975335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4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Benefits and Applications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8859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Benefits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2102346"/>
            <a:ext cx="283461" cy="2834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5723" y="2096492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Billing Accuracy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275723" y="2580779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Improved accuracy and transparency through real-time data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3569494"/>
            <a:ext cx="283461" cy="2834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5723" y="3563640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Reduced Costs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1275723" y="4047927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Lower manual effort, operational costs, and human errors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5036641"/>
            <a:ext cx="283461" cy="2834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75723" y="5030788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Resource Conservation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275723" y="5515074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Better management, faster reporting, and scalable secure infrastructure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332776" y="158859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Applications</a:t>
            </a:r>
            <a:endParaRPr lang="en-US" sz="1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2096492"/>
            <a:ext cx="2507394" cy="148619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21783" y="2285504"/>
            <a:ext cx="21293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🏠</a:t>
            </a: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Residential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521783" y="2788841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Buildings and apartment complexes</a:t>
            </a:r>
            <a:endParaRPr lang="en-US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176" y="2096492"/>
            <a:ext cx="2507394" cy="148619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218183" y="2285504"/>
            <a:ext cx="21293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🏢</a:t>
            </a: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Commercial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9218183" y="2788841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Complexes and office spaces</a:t>
            </a:r>
            <a:endParaRPr lang="en-US" sz="14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3771702"/>
            <a:ext cx="2507394" cy="148619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521783" y="3960713"/>
            <a:ext cx="21293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🏭</a:t>
            </a: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Industrial</a:t>
            </a:r>
            <a:endParaRPr lang="en-US" sz="1850" dirty="0"/>
          </a:p>
        </p:txBody>
      </p:sp>
      <p:sp>
        <p:nvSpPr>
          <p:cNvPr id="22" name="Text 14"/>
          <p:cNvSpPr/>
          <p:nvPr/>
        </p:nvSpPr>
        <p:spPr>
          <a:xfrm>
            <a:off x="6521783" y="4464050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Facilities and manufacturing plants</a:t>
            </a:r>
            <a:endParaRPr lang="en-US" sz="14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176" y="3771702"/>
            <a:ext cx="2507394" cy="148619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218183" y="3960713"/>
            <a:ext cx="21293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🌆</a:t>
            </a: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Smart Cities</a:t>
            </a:r>
            <a:endParaRPr lang="en-US" sz="1850" dirty="0"/>
          </a:p>
        </p:txBody>
      </p:sp>
      <p:sp>
        <p:nvSpPr>
          <p:cNvPr id="25" name="Text 16"/>
          <p:cNvSpPr/>
          <p:nvPr/>
        </p:nvSpPr>
        <p:spPr>
          <a:xfrm>
            <a:off x="9218183" y="4464050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Urban infrastructure and utility networks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89967"/>
            <a:ext cx="6296860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233360" y="1245394"/>
            <a:ext cx="2658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233360" y="1452066"/>
            <a:ext cx="6296860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6" name="Text 3"/>
          <p:cNvSpPr/>
          <p:nvPr/>
        </p:nvSpPr>
        <p:spPr>
          <a:xfrm>
            <a:off x="5233360" y="1556544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Replaces Manual Reading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33360" y="1820168"/>
            <a:ext cx="629686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Automated IoT-based monitoring eliminates time-consuming manual utility meter reading entirely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233360" y="2194223"/>
            <a:ext cx="2658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233360" y="2400895"/>
            <a:ext cx="6296860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0" name="Text 7"/>
          <p:cNvSpPr/>
          <p:nvPr/>
        </p:nvSpPr>
        <p:spPr>
          <a:xfrm>
            <a:off x="5233360" y="2505373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Continuous Data Collection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233360" y="2768997"/>
            <a:ext cx="6296860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Smart meters continuously collect water, gas, and electricity consumption data via IoT and cloud connectivity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233360" y="3324126"/>
            <a:ext cx="2658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233360" y="3530798"/>
            <a:ext cx="6296860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4" name="Text 11"/>
          <p:cNvSpPr/>
          <p:nvPr/>
        </p:nvSpPr>
        <p:spPr>
          <a:xfrm>
            <a:off x="5233360" y="3635276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Real-Time Intelligence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233360" y="3898900"/>
            <a:ext cx="6296860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Dashboards deliver real-time usage, historical trends, estimated billing, abnormal usage alerts, and meter status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233360" y="4454029"/>
            <a:ext cx="2658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233360" y="4660702"/>
            <a:ext cx="6296860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8" name="Text 15"/>
          <p:cNvSpPr/>
          <p:nvPr/>
        </p:nvSpPr>
        <p:spPr>
          <a:xfrm>
            <a:off x="5233360" y="4765179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Smarter Utility Services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233360" y="5028803"/>
            <a:ext cx="6296860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Improved billing accuracy, reduced manual effort, enhanced resource management, and efficient smart utility services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32686" y="5700713"/>
            <a:ext cx="6097534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IoT technology is essential for creating intelligent, efficient, and sustainable utility monitoring systems that benefit consumers, utility providers, and the environment.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233360" y="5595640"/>
            <a:ext cx="19050" cy="572294"/>
          </a:xfrm>
          <a:prstGeom prst="roundRect">
            <a:avLst>
              <a:gd name="adj" fmla="val 49999"/>
            </a:avLst>
          </a:prstGeom>
          <a:solidFill>
            <a:srgbClr val="3E251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669</Words>
  <Application>Microsoft Office PowerPoint</Application>
  <PresentationFormat>Widescreen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Twemoji Mozilla</vt:lpstr>
      <vt:lpstr>Source Serif 4</vt:lpstr>
      <vt:lpstr>Platypi Medium</vt:lpstr>
      <vt:lpstr>Arial</vt:lpstr>
      <vt:lpstr>Platypi Light</vt:lpstr>
      <vt:lpstr>Source Serif 4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3</cp:revision>
  <dcterms:created xsi:type="dcterms:W3CDTF">2026-08-20T04:45:08Z</dcterms:created>
  <dcterms:modified xsi:type="dcterms:W3CDTF">2026-10-02T17:33:22Z</dcterms:modified>
</cp:coreProperties>
</file>